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 Bold" panose="00000800000000000000" pitchFamily="2" charset="-120"/>
      <p:bold r:id="rId13"/>
    </p:embeddedFont>
    <p:embeddedFont>
      <p:font typeface="Arial Black" panose="020B0A04020102020204" pitchFamily="34" charset="0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903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47" y="952857"/>
            <a:ext cx="4215765" cy="63237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44709" y="2468880"/>
            <a:ext cx="1769388" cy="407075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5" name="Text 2"/>
          <p:cNvSpPr/>
          <p:nvPr/>
        </p:nvSpPr>
        <p:spPr>
          <a:xfrm>
            <a:off x="6374606" y="2533769"/>
            <a:ext cx="150959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DSA FROM ZERO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44709" y="296251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Day 13 – Find Minimum Element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6244709" y="4712851"/>
            <a:ext cx="762738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how to scan an array and track the smallest value — a foundational technique in every programmer's toolkit. Simple logic, powerful results. 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288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191119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58309" y="2948821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Given an array of integers, find and return the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smallest element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3539252"/>
            <a:ext cx="37053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2504" y="37634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Array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82504" y="4249579"/>
            <a:ext cx="32569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[4, 2, 7, 1, 9]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80228" y="3539252"/>
            <a:ext cx="37054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04423" y="37634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Expected Output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04423" y="4249579"/>
            <a:ext cx="32570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5037058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2504" y="526125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Task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2504" y="574738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the array and identify the minimum value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7864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Think Like This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24620"/>
            <a:ext cx="655689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Imagine you are shopping in Sarojni Nagar Market in Delhi…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510" y="4221718"/>
            <a:ext cx="324922" cy="3249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26" y="4215051"/>
            <a:ext cx="348674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IN" sz="2400" dirty="0"/>
              <a:t>Check every shop's price 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5057418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GB" sz="2000" dirty="0">
                <a:latin typeface="Arial Black" panose="020B0A04020102020204" pitchFamily="34" charset="0"/>
              </a:rPr>
              <a:t>You must look at </a:t>
            </a:r>
            <a:r>
              <a:rPr lang="en-GB" sz="2000" b="1" dirty="0">
                <a:latin typeface="Arial Black" panose="020B0A04020102020204" pitchFamily="34" charset="0"/>
              </a:rPr>
              <a:t>each option </a:t>
            </a:r>
            <a:r>
              <a:rPr lang="en-GB" sz="2000" dirty="0">
                <a:latin typeface="Arial Black" panose="020B0A04020102020204" pitchFamily="34" charset="0"/>
              </a:rPr>
              <a:t>— you can't skip any.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1020" y="4221718"/>
            <a:ext cx="324922" cy="3249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3836" y="4246364"/>
            <a:ext cx="348674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2400" dirty="0"/>
              <a:t>Remember the lowest price so far 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23836" y="5057418"/>
            <a:ext cx="3486745" cy="8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GB" sz="2000" dirty="0">
                <a:latin typeface="Arial Black" panose="020B0A04020102020204" pitchFamily="34" charset="0"/>
              </a:rPr>
              <a:t>Keep track of the minimum price you’ve seen.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2530" y="4221718"/>
            <a:ext cx="324922" cy="3249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85346" y="4215051"/>
            <a:ext cx="3486745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GB" sz="2400" dirty="0"/>
              <a:t>Update when you find a better price. 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421836" y="5057418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en-GB" sz="2000" dirty="0">
                <a:latin typeface="Arial Black" panose="020B0A04020102020204" pitchFamily="34" charset="0"/>
              </a:rPr>
              <a:t>If a shop offers a lower price, replace your current </a:t>
            </a:r>
            <a:r>
              <a:rPr lang="en-GB" sz="2000" b="1" dirty="0">
                <a:latin typeface="Arial Black" panose="020B0A04020102020204" pitchFamily="34" charset="0"/>
              </a:rPr>
              <a:t>minimum</a:t>
            </a:r>
            <a:r>
              <a:rPr lang="en-GB" sz="2000" dirty="0">
                <a:latin typeface="Arial Black" panose="020B0A04020102020204" pitchFamily="34" charset="0"/>
              </a:rPr>
              <a:t>.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2920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Idea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10552"/>
            <a:ext cx="4246126" cy="4246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40693" y="2735580"/>
            <a:ext cx="833889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algorithm is built on three simple steps that repeat until every element is visited: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540693" y="3672721"/>
            <a:ext cx="2635210" cy="2809994"/>
          </a:xfrm>
          <a:prstGeom prst="roundRect">
            <a:avLst>
              <a:gd name="adj" fmla="val 555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212" y="3672721"/>
            <a:ext cx="121920" cy="2809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9187" y="3919776"/>
            <a:ext cx="204966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Store a minimum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879187" y="4848820"/>
            <a:ext cx="2049661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Initialize 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the first element as your starting reference.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392478" y="3672721"/>
            <a:ext cx="2635210" cy="2809994"/>
          </a:xfrm>
          <a:prstGeom prst="roundRect">
            <a:avLst>
              <a:gd name="adj" fmla="val 555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998" y="3672721"/>
            <a:ext cx="121920" cy="2809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0972" y="3919776"/>
            <a:ext cx="2049661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Compare each element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730972" y="4848820"/>
            <a:ext cx="2049661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 through every value in the array one by one.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11244263" y="3672721"/>
            <a:ext cx="2635329" cy="2809994"/>
          </a:xfrm>
          <a:prstGeom prst="roundRect">
            <a:avLst>
              <a:gd name="adj" fmla="val 5552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3783" y="3672721"/>
            <a:ext cx="121920" cy="28099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582757" y="3919776"/>
            <a:ext cx="204978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Update if smaller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1582757" y="4848820"/>
            <a:ext cx="204978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Whenever you find a smaller value, it becomes the new 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8759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Approach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123" y="1933575"/>
            <a:ext cx="7702153" cy="457128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9121" y="3050873"/>
            <a:ext cx="655683" cy="6556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24949" y="5434690"/>
            <a:ext cx="1914594" cy="38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Update Min</a:t>
            </a:r>
            <a:endParaRPr lang="en-US" sz="2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8708" y="3052103"/>
            <a:ext cx="655682" cy="6556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12037" y="5240648"/>
            <a:ext cx="1914594" cy="776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Compare Elements</a:t>
            </a:r>
            <a:endParaRPr lang="en-US" sz="2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5795" y="3052103"/>
            <a:ext cx="655683" cy="6556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59783" y="5434690"/>
            <a:ext cx="1914593" cy="38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Initialize Min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758309" y="6748582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single-pass strategy is clean and efficient — you only ever need to visit each element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making it ideal for large arrays.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87266"/>
            <a:ext cx="4602599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Dry Run — Step by Step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58309" y="1834634"/>
            <a:ext cx="13113782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trace through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[4, 2, 7, 1, 9]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manually: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03770" y="2240161"/>
            <a:ext cx="22860" cy="5002054"/>
          </a:xfrm>
          <a:prstGeom prst="roundRect">
            <a:avLst>
              <a:gd name="adj" fmla="val 1137336"/>
            </a:avLst>
          </a:prstGeom>
          <a:solidFill>
            <a:srgbClr val="BACFDD"/>
          </a:solidFill>
          <a:ln/>
        </p:spPr>
      </p:sp>
      <p:sp>
        <p:nvSpPr>
          <p:cNvPr id="5" name="Shape 3"/>
          <p:cNvSpPr/>
          <p:nvPr/>
        </p:nvSpPr>
        <p:spPr>
          <a:xfrm>
            <a:off x="6991469" y="2423636"/>
            <a:ext cx="346591" cy="22860"/>
          </a:xfrm>
          <a:prstGeom prst="roundRect">
            <a:avLst>
              <a:gd name="adj" fmla="val 1137336"/>
            </a:avLst>
          </a:prstGeom>
          <a:solidFill>
            <a:srgbClr val="BACFD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51" y="2370118"/>
            <a:ext cx="129897" cy="1298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41257" y="2299692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Start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8309" y="2667953"/>
            <a:ext cx="5863590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4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First element becomes our baseline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292340" y="3394234"/>
            <a:ext cx="346591" cy="22860"/>
          </a:xfrm>
          <a:prstGeom prst="roundRect">
            <a:avLst>
              <a:gd name="adj" fmla="val 1137336"/>
            </a:avLst>
          </a:prstGeom>
          <a:solidFill>
            <a:srgbClr val="BACFD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51" y="3340715"/>
            <a:ext cx="129897" cy="1298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8501" y="3270290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Check 2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8008501" y="3638550"/>
            <a:ext cx="586359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&lt; 4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2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991469" y="4255889"/>
            <a:ext cx="346591" cy="22860"/>
          </a:xfrm>
          <a:prstGeom prst="roundRect">
            <a:avLst>
              <a:gd name="adj" fmla="val 1137336"/>
            </a:avLst>
          </a:prstGeom>
          <a:solidFill>
            <a:srgbClr val="BACFD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51" y="4202370"/>
            <a:ext cx="129897" cy="1298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1257" y="4131945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Check 7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58309" y="4500205"/>
            <a:ext cx="586359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 &lt; 2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update needed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7292340" y="5117663"/>
            <a:ext cx="346591" cy="22860"/>
          </a:xfrm>
          <a:prstGeom prst="roundRect">
            <a:avLst>
              <a:gd name="adj" fmla="val 1137336"/>
            </a:avLst>
          </a:prstGeom>
          <a:solidFill>
            <a:srgbClr val="BACFD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51" y="5064145"/>
            <a:ext cx="129897" cy="12989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08501" y="4993719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Check 1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8008501" y="5361980"/>
            <a:ext cx="586359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&lt; 2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1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991469" y="5979438"/>
            <a:ext cx="346591" cy="22860"/>
          </a:xfrm>
          <a:prstGeom prst="roundRect">
            <a:avLst>
              <a:gd name="adj" fmla="val 1137336"/>
            </a:avLst>
          </a:prstGeom>
          <a:solidFill>
            <a:srgbClr val="BACFDD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51" y="5925919"/>
            <a:ext cx="129897" cy="12989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41257" y="5855494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758309" y="6223754"/>
            <a:ext cx="586359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 &lt; 1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min = 1</a:t>
            </a: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🎉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7543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Logic in Code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07970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heart of this algorithm is a single 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check inside a loop. Keep it simple — that's all you need.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745111"/>
            <a:ext cx="6292572" cy="1267182"/>
          </a:xfrm>
          <a:prstGeom prst="roundRect">
            <a:avLst>
              <a:gd name="adj" fmla="val 25647"/>
            </a:avLst>
          </a:prstGeom>
          <a:solidFill>
            <a:srgbClr val="BEDFF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84" y="4077653"/>
            <a:ext cx="270748" cy="216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2207" y="4015740"/>
            <a:ext cx="53721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time </a:t>
            </a:r>
            <a:r>
              <a:rPr lang="en-US" sz="17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arr[i]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less than </a:t>
            </a:r>
            <a:r>
              <a:rPr lang="en-US" sz="17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you've found a new champion — update and keep going.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7139" y="2856786"/>
            <a:ext cx="6292572" cy="3553539"/>
          </a:xfrm>
          <a:prstGeom prst="roundRect">
            <a:avLst>
              <a:gd name="adj" fmla="val 9146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7576423" y="2856786"/>
            <a:ext cx="6314003" cy="3553539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7847171" y="3073360"/>
            <a:ext cx="5772507" cy="312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min = arr[0];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 n; i++)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if (arr[i] &lt; min) {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min = arr[i]; // update min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3620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min now holds the answer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3655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Complexity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90756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O(n)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43651" y="41763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Time Complexity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4662488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visit each element exactly once — linear time, no shortcuts needed.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50574" y="3190756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O(1)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235916" y="41763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Space Complexity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0574" y="4662488"/>
            <a:ext cx="64215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one variable (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is stored — no extra arrays or structures.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559962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about as efficient as an algorithm can get for this problem — you </a:t>
            </a: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must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look at every element at least once, so O(n) is optimal.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6288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1166574"/>
            <a:ext cx="620410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You Learned Today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58309" y="2204204"/>
            <a:ext cx="3705344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04" y="2428399"/>
            <a:ext cx="649962" cy="64996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217" y="2607112"/>
            <a:ext cx="292418" cy="2924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2504" y="32949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Array Traversal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982504" y="3781068"/>
            <a:ext cx="32569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Scanning every element in order using a loop.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4680228" y="2204204"/>
            <a:ext cx="3705463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423" y="2428399"/>
            <a:ext cx="649962" cy="64996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3135" y="2607112"/>
            <a:ext cx="292418" cy="29241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04423" y="32949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Comparison Logic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4904423" y="3781068"/>
            <a:ext cx="32570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conditions to compare values at runtime.</a:t>
            </a:r>
            <a:endParaRPr lang="en-US" sz="1700" dirty="0"/>
          </a:p>
        </p:txBody>
      </p:sp>
      <p:sp>
        <p:nvSpPr>
          <p:cNvPr id="15" name="Shape 8"/>
          <p:cNvSpPr/>
          <p:nvPr/>
        </p:nvSpPr>
        <p:spPr>
          <a:xfrm>
            <a:off x="758309" y="4915257"/>
            <a:ext cx="7627382" cy="2147768"/>
          </a:xfrm>
          <a:prstGeom prst="roundRect">
            <a:avLst>
              <a:gd name="adj" fmla="val 1513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504" y="5139452"/>
            <a:ext cx="649962" cy="649962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1217" y="5318165"/>
            <a:ext cx="292418" cy="29241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82504" y="600598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In-Place Optimization</a:t>
            </a:r>
            <a:endParaRPr lang="en-US" sz="2200" dirty="0"/>
          </a:p>
        </p:txBody>
      </p:sp>
      <p:sp>
        <p:nvSpPr>
          <p:cNvPr id="19" name="Text 10"/>
          <p:cNvSpPr/>
          <p:nvPr/>
        </p:nvSpPr>
        <p:spPr>
          <a:xfrm>
            <a:off x="982504" y="649212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Solving the problem with O(1) space — no extra memory needed.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76444"/>
            <a:ext cx="5701546" cy="74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🧪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Mini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3611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Try it yourself!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93393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what you've learned to this new array: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497223"/>
            <a:ext cx="6292572" cy="98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[8, 3, 5, 2, 6]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758309" y="469737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through it step by step. What is the minimum element? Can you write the code from memory?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8309" y="5634514"/>
            <a:ext cx="6292572" cy="1274802"/>
          </a:xfrm>
          <a:prstGeom prst="roundRect">
            <a:avLst>
              <a:gd name="adj" fmla="val 25494"/>
            </a:avLst>
          </a:prstGeom>
          <a:solidFill>
            <a:srgbClr val="BEDFF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84" y="5967055"/>
            <a:ext cx="270748" cy="2165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2207" y="5905143"/>
            <a:ext cx="53721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💡 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Hint: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Start with </a:t>
            </a:r>
            <a:r>
              <a:rPr lang="en-US" sz="17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8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compare each element one by one.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7139" y="2388275"/>
            <a:ext cx="3037999" cy="1413629"/>
          </a:xfrm>
          <a:prstGeom prst="roundRect">
            <a:avLst>
              <a:gd name="adj" fmla="val 22990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4193" y="2635329"/>
            <a:ext cx="25438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34193" y="3208139"/>
            <a:ext cx="25438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8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0841712" y="2388275"/>
            <a:ext cx="3037999" cy="1413629"/>
          </a:xfrm>
          <a:prstGeom prst="roundRect">
            <a:avLst>
              <a:gd name="adj" fmla="val 22990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88767" y="2635329"/>
            <a:ext cx="25438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088767" y="3208139"/>
            <a:ext cx="25438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 &lt; 8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3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587139" y="4018478"/>
            <a:ext cx="3037999" cy="1421249"/>
          </a:xfrm>
          <a:prstGeom prst="roundRect">
            <a:avLst>
              <a:gd name="adj" fmla="val 22867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34193" y="4265533"/>
            <a:ext cx="25438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834193" y="4838343"/>
            <a:ext cx="254388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&lt; 3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 No update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10841712" y="4018478"/>
            <a:ext cx="3037999" cy="1421249"/>
          </a:xfrm>
          <a:prstGeom prst="roundRect">
            <a:avLst>
              <a:gd name="adj" fmla="val 22867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088767" y="4265533"/>
            <a:ext cx="25438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Step 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1088767" y="4838343"/>
            <a:ext cx="2543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 &lt; 3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n-US" sz="1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 = ?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🤔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630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</vt:lpstr>
      <vt:lpstr>Arial</vt:lpstr>
      <vt:lpstr>Consolas</vt:lpstr>
      <vt:lpstr>Arial Black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кυи∂αи кυмαя</cp:lastModifiedBy>
  <cp:revision>3</cp:revision>
  <dcterms:created xsi:type="dcterms:W3CDTF">2026-04-13T09:17:17Z</dcterms:created>
  <dcterms:modified xsi:type="dcterms:W3CDTF">2026-04-13T14:43:38Z</dcterms:modified>
</cp:coreProperties>
</file>